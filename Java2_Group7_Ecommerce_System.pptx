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8" r:id="rId8"/>
    <p:sldId id="260" r:id="rId9"/>
    <p:sldId id="261" r:id="rId10"/>
    <p:sldId id="269" r:id="rId11"/>
    <p:sldId id="262" r:id="rId12"/>
    <p:sldId id="270" r:id="rId13"/>
    <p:sldId id="272" r:id="rId14"/>
    <p:sldId id="263" r:id="rId15"/>
    <p:sldId id="264" r:id="rId16"/>
    <p:sldId id="265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5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7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1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1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1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4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5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2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1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5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5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60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8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2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20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23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6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0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751841"/>
            <a:ext cx="7027880" cy="2773679"/>
          </a:xfrm>
        </p:spPr>
        <p:txBody>
          <a:bodyPr/>
          <a:lstStyle/>
          <a:p>
            <a:r>
              <a:rPr lang="en-US" b="1" dirty="0"/>
              <a:t>E-Commerce Product Management System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3596640"/>
            <a:ext cx="5917679" cy="1117600"/>
          </a:xfrm>
        </p:spPr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dirty="0"/>
              <a:t>Course: </a:t>
            </a:r>
            <a:r>
              <a:rPr lang="en-US" dirty="0"/>
              <a:t>Computer programming ii</a:t>
            </a:r>
            <a:endParaRPr dirty="0"/>
          </a:p>
          <a:p>
            <a:pPr>
              <a:defRPr sz="2200"/>
            </a:pPr>
            <a:r>
              <a:rPr dirty="0"/>
              <a:t>Group </a:t>
            </a:r>
            <a:r>
              <a:rPr lang="en-US" dirty="0"/>
              <a:t>7</a:t>
            </a:r>
            <a:endParaRPr dirty="0"/>
          </a:p>
          <a:p>
            <a:pPr>
              <a:defRPr sz="2200"/>
            </a:pPr>
            <a:r>
              <a:rPr dirty="0"/>
              <a:t>lecturer</a:t>
            </a:r>
            <a:r>
              <a:rPr lang="en-US" dirty="0"/>
              <a:t>: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Drammeh</a:t>
            </a:r>
            <a:endParaRPr lang="en-US" dirty="0"/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lang="en-US" b="1" dirty="0"/>
              <a:t>Objective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Develop a RESTful API That allows users to perform the CRUD operation.</a:t>
            </a:r>
          </a:p>
          <a:p>
            <a:pPr>
              <a:defRPr sz="2200"/>
            </a:pPr>
            <a:r>
              <a:rPr lang="en-US" b="1" dirty="0"/>
              <a:t>Problem Solved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Manual product management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Poor inventory tracking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Lack of centralized storage</a:t>
            </a:r>
          </a:p>
          <a:p>
            <a:pPr>
              <a:defRPr sz="2200"/>
            </a:pPr>
            <a:r>
              <a:rPr b="1" dirty="0"/>
              <a:t>Technologi</a:t>
            </a:r>
            <a:r>
              <a:rPr lang="en-US" b="1" dirty="0"/>
              <a:t>es</a:t>
            </a:r>
          </a:p>
          <a:p>
            <a:pPr marL="0" indent="0">
              <a:buNone/>
              <a:defRPr sz="2200"/>
            </a:pPr>
            <a:r>
              <a:rPr lang="en-US" b="1" dirty="0"/>
              <a:t> </a:t>
            </a:r>
            <a:r>
              <a:rPr lang="en-US" dirty="0"/>
              <a:t>Java, Spring Boot, Maven, JPA, Lombok, MySQL/H2, Postman, GitHub.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699C-E970-49B6-A117-D0072F19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CF5EF6-138E-44B3-B331-160607BEC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028" y="2489201"/>
            <a:ext cx="1061772" cy="102367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1520D-5878-4541-8402-00ED1FDB2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5359"/>
            <a:ext cx="1574800" cy="1267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719F6-3AEF-4E61-BB4C-781F8CA9D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373" y="2328752"/>
            <a:ext cx="1441107" cy="11007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346440-60EA-4016-8186-0482D3E7D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219" y="2142241"/>
            <a:ext cx="3110147" cy="12675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54C766-361A-43E2-BDEC-19A60145B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964" y="3409751"/>
            <a:ext cx="2662178" cy="13998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089C94-420B-46B6-8B2F-46DFA90F14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7630" y="3617419"/>
            <a:ext cx="1696591" cy="11921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30B5C6-519D-4340-A441-A515667B74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1651" y="3721643"/>
            <a:ext cx="1585097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3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E6858-F0FD-4603-AF04-3730D38716C3}"/>
              </a:ext>
            </a:extLst>
          </p:cNvPr>
          <p:cNvSpPr/>
          <p:nvPr/>
        </p:nvSpPr>
        <p:spPr>
          <a:xfrm>
            <a:off x="1280160" y="2489200"/>
            <a:ext cx="2092960" cy="42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726E81-0392-4B3E-A6C2-A2F37DC1FF71}"/>
              </a:ext>
            </a:extLst>
          </p:cNvPr>
          <p:cNvSpPr/>
          <p:nvPr/>
        </p:nvSpPr>
        <p:spPr>
          <a:xfrm>
            <a:off x="208344" y="2856227"/>
            <a:ext cx="2523281" cy="108585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 (Postman)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1F5354-045D-4ED2-8F37-590DDD1E25A1}"/>
              </a:ext>
            </a:extLst>
          </p:cNvPr>
          <p:cNvSpPr/>
          <p:nvPr/>
        </p:nvSpPr>
        <p:spPr>
          <a:xfrm>
            <a:off x="3373120" y="2856228"/>
            <a:ext cx="2397762" cy="108585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8F24A5-1E4C-4ED9-93EB-39F4F021A429}"/>
              </a:ext>
            </a:extLst>
          </p:cNvPr>
          <p:cNvSpPr/>
          <p:nvPr/>
        </p:nvSpPr>
        <p:spPr>
          <a:xfrm>
            <a:off x="6718690" y="2856227"/>
            <a:ext cx="2216965" cy="108585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Service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8D4A59-0290-4F3B-956D-3DF894DA7D44}"/>
              </a:ext>
            </a:extLst>
          </p:cNvPr>
          <p:cNvSpPr/>
          <p:nvPr/>
        </p:nvSpPr>
        <p:spPr>
          <a:xfrm>
            <a:off x="6718690" y="4470965"/>
            <a:ext cx="2216964" cy="108585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Repository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AAAC9B-B396-4449-9816-9EC425B900D8}"/>
              </a:ext>
            </a:extLst>
          </p:cNvPr>
          <p:cNvSpPr/>
          <p:nvPr/>
        </p:nvSpPr>
        <p:spPr>
          <a:xfrm>
            <a:off x="3373119" y="4470965"/>
            <a:ext cx="2397761" cy="108585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FBD1F8-7D44-4448-93E2-3AA02249ED7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2731625" y="3399154"/>
            <a:ext cx="641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6B2F0E-4B0D-4A34-BDC9-CC9E385E8242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5770882" y="3399155"/>
            <a:ext cx="947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073BF9-BDFF-4CAA-9886-127DD49C767F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7827172" y="3942082"/>
            <a:ext cx="1" cy="528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0A31841-D449-41F0-85EC-BF8D56393B77}"/>
              </a:ext>
            </a:extLst>
          </p:cNvPr>
          <p:cNvCxnSpPr>
            <a:cxnSpLocks/>
            <a:stCxn id="8" idx="2"/>
            <a:endCxn id="21" idx="6"/>
          </p:cNvCxnSpPr>
          <p:nvPr/>
        </p:nvCxnSpPr>
        <p:spPr>
          <a:xfrm flipH="1">
            <a:off x="5770880" y="5013893"/>
            <a:ext cx="9478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E599-0C0B-4BCC-A9E9-0B4EF15B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BC96B-5641-4E12-9E09-B717B4389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160" y="2164080"/>
            <a:ext cx="4521200" cy="4582160"/>
          </a:xfrm>
        </p:spPr>
      </p:pic>
    </p:spTree>
    <p:extLst>
      <p:ext uri="{BB962C8B-B14F-4D97-AF65-F5344CB8AC3E}">
        <p14:creationId xmlns:p14="http://schemas.microsoft.com/office/powerpoint/2010/main" val="230595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495" y="936623"/>
            <a:ext cx="6343672" cy="709865"/>
          </a:xfrm>
        </p:spPr>
        <p:txBody>
          <a:bodyPr/>
          <a:lstStyle/>
          <a:p>
            <a:r>
              <a:t>Product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498725"/>
            <a:ext cx="2419350" cy="436880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b="1" dirty="0"/>
              <a:t>Fields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/>
              <a:t> </a:t>
            </a:r>
            <a:r>
              <a:rPr lang="en-US" dirty="0"/>
              <a:t>I</a:t>
            </a:r>
            <a:r>
              <a:rPr dirty="0"/>
              <a:t>d,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/>
              <a:t> </a:t>
            </a:r>
            <a:r>
              <a:rPr lang="en-US" dirty="0"/>
              <a:t>N</a:t>
            </a:r>
            <a:r>
              <a:rPr dirty="0"/>
              <a:t>ame,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D</a:t>
            </a:r>
            <a:r>
              <a:rPr dirty="0"/>
              <a:t>escription,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P</a:t>
            </a:r>
            <a:r>
              <a:rPr dirty="0"/>
              <a:t>rice,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Q</a:t>
            </a:r>
            <a:r>
              <a:rPr dirty="0"/>
              <a:t>uantity.</a:t>
            </a:r>
          </a:p>
          <a:p>
            <a:pPr>
              <a:defRPr sz="2200"/>
            </a:pPr>
            <a:r>
              <a:rPr dirty="0"/>
              <a:t>Validation annotations.</a:t>
            </a:r>
          </a:p>
          <a:p>
            <a:pPr>
              <a:defRPr sz="2200"/>
            </a:pPr>
            <a:r>
              <a:rPr dirty="0"/>
              <a:t>Lombok annotations.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703EB-AF12-45DE-AA79-F7D417BC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038" y="2152891"/>
            <a:ext cx="5590572" cy="47146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D673-936E-4F7C-800C-A6101E36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Fields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B0B8A39-50B9-45BE-B5F0-A34C5B6AC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80461"/>
              </p:ext>
            </p:extLst>
          </p:nvPr>
        </p:nvGraphicFramePr>
        <p:xfrm>
          <a:off x="-1" y="2245360"/>
          <a:ext cx="4450079" cy="4612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72913">
                  <a:extLst>
                    <a:ext uri="{9D8B030D-6E8A-4147-A177-3AD203B41FA5}">
                      <a16:colId xmlns:a16="http://schemas.microsoft.com/office/drawing/2014/main" val="2425528022"/>
                    </a:ext>
                  </a:extLst>
                </a:gridCol>
                <a:gridCol w="1514697">
                  <a:extLst>
                    <a:ext uri="{9D8B030D-6E8A-4147-A177-3AD203B41FA5}">
                      <a16:colId xmlns:a16="http://schemas.microsoft.com/office/drawing/2014/main" val="3975709768"/>
                    </a:ext>
                  </a:extLst>
                </a:gridCol>
                <a:gridCol w="1462469">
                  <a:extLst>
                    <a:ext uri="{9D8B030D-6E8A-4147-A177-3AD203B41FA5}">
                      <a16:colId xmlns:a16="http://schemas.microsoft.com/office/drawing/2014/main" val="1326813541"/>
                    </a:ext>
                  </a:extLst>
                </a:gridCol>
              </a:tblGrid>
              <a:tr h="763969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772411"/>
                  </a:ext>
                </a:extLst>
              </a:tr>
              <a:tr h="77838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961397"/>
                  </a:ext>
                </a:extLst>
              </a:tr>
              <a:tr h="763969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NotBlank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657370"/>
                  </a:ext>
                </a:extLst>
              </a:tr>
              <a:tr h="763969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599452"/>
                  </a:ext>
                </a:extLst>
              </a:tr>
              <a:tr h="763969"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BigDecimal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444383"/>
                  </a:ext>
                </a:extLst>
              </a:tr>
              <a:tr h="778382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PositiveOr</a:t>
                      </a:r>
                      <a:endParaRPr lang="en-US" dirty="0"/>
                    </a:p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4409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1A7C927-B2E3-4D79-B6CC-A00B9113B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884" y="2153921"/>
            <a:ext cx="4643116" cy="470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9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4919240"/>
            <a:ext cx="6412375" cy="1938759"/>
          </a:xfrm>
        </p:spPr>
        <p:txBody>
          <a:bodyPr>
            <a:normAutofit/>
          </a:bodyPr>
          <a:lstStyle/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dirty="0" err="1"/>
              <a:t>ProductRepository</a:t>
            </a:r>
            <a:r>
              <a:rPr dirty="0"/>
              <a:t> extends </a:t>
            </a:r>
            <a:r>
              <a:rPr dirty="0" err="1"/>
              <a:t>JpaRepository</a:t>
            </a:r>
            <a:r>
              <a:rPr dirty="0"/>
              <a:t>.</a:t>
            </a:r>
          </a:p>
          <a:p>
            <a:pPr>
              <a:defRPr sz="2200"/>
            </a:pPr>
            <a:r>
              <a:rPr b="1" dirty="0"/>
              <a:t>Methods: </a:t>
            </a:r>
            <a:r>
              <a:rPr dirty="0"/>
              <a:t>save, </a:t>
            </a:r>
            <a:r>
              <a:rPr dirty="0" err="1"/>
              <a:t>findAll</a:t>
            </a:r>
            <a:r>
              <a:rPr dirty="0"/>
              <a:t>, </a:t>
            </a:r>
            <a:r>
              <a:rPr dirty="0" err="1"/>
              <a:t>findById</a:t>
            </a:r>
            <a:r>
              <a:rPr dirty="0"/>
              <a:t>, </a:t>
            </a:r>
            <a:r>
              <a:rPr dirty="0" err="1"/>
              <a:t>deleteById</a:t>
            </a:r>
            <a:r>
              <a:rPr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DE5B68-D3DC-4ACF-AC8C-DBC2D0CEE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466"/>
            <a:ext cx="8599990" cy="283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57063"/>
            <a:ext cx="3611301" cy="4502552"/>
          </a:xfrm>
        </p:spPr>
        <p:txBody>
          <a:bodyPr/>
          <a:lstStyle/>
          <a:p>
            <a:pPr>
              <a:defRPr sz="2200"/>
            </a:pPr>
            <a:r>
              <a:rPr b="1" dirty="0"/>
              <a:t>Business logic methods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 err="1"/>
              <a:t>createProduct</a:t>
            </a:r>
            <a:endParaRPr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 err="1"/>
              <a:t>getAllProducts</a:t>
            </a:r>
            <a:endParaRPr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 err="1"/>
              <a:t>getProductById</a:t>
            </a:r>
            <a:endParaRPr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 err="1"/>
              <a:t>updateProduct</a:t>
            </a:r>
            <a:endParaRPr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dirty="0" err="1"/>
              <a:t>deleteProduct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BA5240-5C38-4544-AFD2-37B07F5F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871" y="2077655"/>
            <a:ext cx="11586258" cy="4861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BE9E-D48A-4E5C-BCDA-0198FCCB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E19C1-F56A-4E4B-B258-91691B099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89200"/>
            <a:ext cx="2705100" cy="3530600"/>
          </a:xfrm>
        </p:spPr>
        <p:txBody>
          <a:bodyPr/>
          <a:lstStyle/>
          <a:p>
            <a:r>
              <a:rPr lang="en-US" dirty="0"/>
              <a:t>@RestController</a:t>
            </a:r>
          </a:p>
          <a:p>
            <a:r>
              <a:rPr lang="en-US" dirty="0"/>
              <a:t>@RequestMapping</a:t>
            </a:r>
          </a:p>
          <a:p>
            <a:r>
              <a:rPr lang="en-US" dirty="0"/>
              <a:t>@PostMapping</a:t>
            </a:r>
          </a:p>
          <a:p>
            <a:r>
              <a:rPr lang="en-US" dirty="0"/>
              <a:t>@GetMapping</a:t>
            </a:r>
          </a:p>
          <a:p>
            <a:r>
              <a:rPr lang="en-US" dirty="0"/>
              <a:t>@PutMapping</a:t>
            </a:r>
          </a:p>
          <a:p>
            <a:r>
              <a:rPr lang="en-US" dirty="0"/>
              <a:t>@DeleteMapping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928E2-6DD1-47F7-AF5A-BCC65654E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699" y="2085976"/>
            <a:ext cx="6210301" cy="477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86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</a:t>
            </a:r>
            <a:r>
              <a:rPr lang="en-US" dirty="0"/>
              <a:t> Endpoints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6057900"/>
            <a:ext cx="6810374" cy="80009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dirty="0" err="1"/>
              <a:t>Defult</a:t>
            </a:r>
            <a:r>
              <a:rPr lang="en-US" dirty="0"/>
              <a:t> port URL http://localhost:8080/api/products </a:t>
            </a:r>
            <a:r>
              <a:rPr lang="en-US" dirty="0">
                <a:solidFill>
                  <a:srgbClr val="FFFFFF"/>
                </a:solidFill>
                <a:latin typeface="Inter"/>
              </a:rPr>
              <a:t>http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96E5773-B59B-4B76-88FE-EFAD4FB0D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6282"/>
              </p:ext>
            </p:extLst>
          </p:nvPr>
        </p:nvGraphicFramePr>
        <p:xfrm>
          <a:off x="-1" y="2209800"/>
          <a:ext cx="3952876" cy="34202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551">
                  <a:extLst>
                    <a:ext uri="{9D8B030D-6E8A-4147-A177-3AD203B41FA5}">
                      <a16:colId xmlns:a16="http://schemas.microsoft.com/office/drawing/2014/main" val="753905117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1667149020"/>
                    </a:ext>
                  </a:extLst>
                </a:gridCol>
              </a:tblGrid>
              <a:tr h="398236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08907"/>
                  </a:ext>
                </a:extLst>
              </a:tr>
              <a:tr h="554264"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/</a:t>
                      </a:r>
                      <a:r>
                        <a:rPr lang="en-US" dirty="0" err="1"/>
                        <a:t>api</a:t>
                      </a:r>
                      <a:r>
                        <a:rPr lang="en-US" dirty="0"/>
                        <a:t>/products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095433"/>
                  </a:ext>
                </a:extLst>
              </a:tr>
              <a:tr h="590777">
                <a:tc>
                  <a:txBody>
                    <a:bodyPr/>
                    <a:lstStyle/>
                    <a:p>
                      <a:r>
                        <a:rPr lang="en-US" dirty="0"/>
                        <a:t>GET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/</a:t>
                      </a:r>
                      <a:r>
                        <a:rPr lang="en-US" dirty="0" err="1"/>
                        <a:t>api</a:t>
                      </a:r>
                      <a:r>
                        <a:rPr lang="en-US" dirty="0"/>
                        <a:t>/products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148462"/>
                  </a:ext>
                </a:extLst>
              </a:tr>
              <a:tr h="703490">
                <a:tc>
                  <a:txBody>
                    <a:bodyPr/>
                    <a:lstStyle/>
                    <a:p>
                      <a:r>
                        <a:rPr lang="en-US" dirty="0"/>
                        <a:t>GET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/</a:t>
                      </a:r>
                      <a:r>
                        <a:rPr lang="en-US" dirty="0" err="1"/>
                        <a:t>api</a:t>
                      </a:r>
                      <a:r>
                        <a:rPr lang="en-US" dirty="0"/>
                        <a:t>/products/{id}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350108"/>
                  </a:ext>
                </a:extLst>
              </a:tr>
              <a:tr h="584202">
                <a:tc>
                  <a:txBody>
                    <a:bodyPr/>
                    <a:lstStyle/>
                    <a:p>
                      <a:r>
                        <a:rPr lang="en-US" dirty="0"/>
                        <a:t>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/</a:t>
                      </a:r>
                      <a:r>
                        <a:rPr lang="en-US" dirty="0" err="1"/>
                        <a:t>api</a:t>
                      </a:r>
                      <a:r>
                        <a:rPr lang="en-US" dirty="0"/>
                        <a:t>/products/{id}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894305"/>
                  </a:ext>
                </a:extLst>
              </a:tr>
              <a:tr h="398236"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api</a:t>
                      </a:r>
                      <a:r>
                        <a:rPr lang="en-US" dirty="0"/>
                        <a:t>/products/{id}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97901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605949D-963E-43F2-A1C7-DAF6B74E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2209800"/>
            <a:ext cx="4895850" cy="34202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4E6858-F0FD-4603-AF04-3730D38716C3}"/>
              </a:ext>
            </a:extLst>
          </p:cNvPr>
          <p:cNvSpPr/>
          <p:nvPr/>
        </p:nvSpPr>
        <p:spPr>
          <a:xfrm>
            <a:off x="1280160" y="2489200"/>
            <a:ext cx="2092960" cy="42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726E81-0392-4B3E-A6C2-A2F37DC1FF71}"/>
              </a:ext>
            </a:extLst>
          </p:cNvPr>
          <p:cNvSpPr/>
          <p:nvPr/>
        </p:nvSpPr>
        <p:spPr>
          <a:xfrm>
            <a:off x="208345" y="2856227"/>
            <a:ext cx="2523281" cy="108585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Postman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1F5354-045D-4ED2-8F37-590DDD1E25A1}"/>
              </a:ext>
            </a:extLst>
          </p:cNvPr>
          <p:cNvSpPr/>
          <p:nvPr/>
        </p:nvSpPr>
        <p:spPr>
          <a:xfrm>
            <a:off x="3373120" y="2856228"/>
            <a:ext cx="2397762" cy="108585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8F24A5-1E4C-4ED9-93EB-39F4F021A429}"/>
              </a:ext>
            </a:extLst>
          </p:cNvPr>
          <p:cNvSpPr/>
          <p:nvPr/>
        </p:nvSpPr>
        <p:spPr>
          <a:xfrm>
            <a:off x="6718690" y="2856227"/>
            <a:ext cx="2216965" cy="10858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Service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8D4A59-0290-4F3B-956D-3DF894DA7D44}"/>
              </a:ext>
            </a:extLst>
          </p:cNvPr>
          <p:cNvSpPr/>
          <p:nvPr/>
        </p:nvSpPr>
        <p:spPr>
          <a:xfrm>
            <a:off x="6718690" y="4470965"/>
            <a:ext cx="2216964" cy="10858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Repository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AAAC9B-B396-4449-9816-9EC425B900D8}"/>
              </a:ext>
            </a:extLst>
          </p:cNvPr>
          <p:cNvSpPr/>
          <p:nvPr/>
        </p:nvSpPr>
        <p:spPr>
          <a:xfrm>
            <a:off x="3373119" y="4470965"/>
            <a:ext cx="2397761" cy="108585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FBD1F8-7D44-4448-93E2-3AA02249ED7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2731626" y="3399154"/>
            <a:ext cx="6414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6B2F0E-4B0D-4A34-BDC9-CC9E385E8242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5770882" y="3399155"/>
            <a:ext cx="947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073BF9-BDFF-4CAA-9886-127DD49C767F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7827172" y="3942082"/>
            <a:ext cx="1" cy="528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FB0E1244-2E9C-495D-8AB3-586AA83F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A2EEE8-FAE1-4F95-89FF-7265870793F8}"/>
              </a:ext>
            </a:extLst>
          </p:cNvPr>
          <p:cNvSpPr/>
          <p:nvPr/>
        </p:nvSpPr>
        <p:spPr>
          <a:xfrm>
            <a:off x="208345" y="4470965"/>
            <a:ext cx="2523281" cy="108585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F51144-2298-42F5-B7E7-6ED87E2817E2}"/>
              </a:ext>
            </a:extLst>
          </p:cNvPr>
          <p:cNvCxnSpPr>
            <a:cxnSpLocks/>
            <a:stCxn id="23" idx="0"/>
            <a:endCxn id="5" idx="4"/>
          </p:cNvCxnSpPr>
          <p:nvPr/>
        </p:nvCxnSpPr>
        <p:spPr>
          <a:xfrm flipV="1">
            <a:off x="1469986" y="3942081"/>
            <a:ext cx="0" cy="528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891E1C3-26BF-491A-99F7-7EC4BB25FB75}"/>
              </a:ext>
            </a:extLst>
          </p:cNvPr>
          <p:cNvCxnSpPr>
            <a:cxnSpLocks/>
            <a:stCxn id="8" idx="2"/>
            <a:endCxn id="21" idx="6"/>
          </p:cNvCxnSpPr>
          <p:nvPr/>
        </p:nvCxnSpPr>
        <p:spPr>
          <a:xfrm flipH="1">
            <a:off x="5770880" y="5013893"/>
            <a:ext cx="9478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61E833-2183-4F4E-B178-28DE0CBC2FC4}"/>
              </a:ext>
            </a:extLst>
          </p:cNvPr>
          <p:cNvCxnSpPr>
            <a:cxnSpLocks/>
            <a:stCxn id="21" idx="2"/>
            <a:endCxn id="23" idx="6"/>
          </p:cNvCxnSpPr>
          <p:nvPr/>
        </p:nvCxnSpPr>
        <p:spPr>
          <a:xfrm flipH="1">
            <a:off x="2731626" y="5013893"/>
            <a:ext cx="6414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5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99D833-4AD6-4FF9-8F06-6D0FD480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Status Codes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D481F-A245-4EBE-92BA-A715E36F0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83725-208E-493E-BC70-B93B94A1A3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200 OK</a:t>
            </a:r>
          </a:p>
          <a:p>
            <a:pPr marL="914400">
              <a:spcBef>
                <a:spcPts val="0"/>
              </a:spcBef>
            </a:pPr>
            <a:endParaRPr lang="en-US" dirty="0"/>
          </a:p>
          <a:p>
            <a:r>
              <a:rPr lang="en-US" dirty="0"/>
              <a:t>201 Created</a:t>
            </a:r>
          </a:p>
          <a:p>
            <a:endParaRPr lang="en-US" dirty="0"/>
          </a:p>
          <a:p>
            <a:r>
              <a:rPr lang="en-US" dirty="0"/>
              <a:t>204 No Content</a:t>
            </a:r>
          </a:p>
          <a:p>
            <a:endParaRPr lang="en-US" dirty="0"/>
          </a:p>
          <a:p>
            <a:r>
              <a:rPr lang="en-US" dirty="0"/>
              <a:t>404 Not Found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98A647-3F8A-4A8C-8759-9A8DC3936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86151" y="2489200"/>
            <a:ext cx="4791410" cy="756635"/>
          </a:xfrm>
        </p:spPr>
        <p:txBody>
          <a:bodyPr/>
          <a:lstStyle/>
          <a:p>
            <a:r>
              <a:rPr lang="en-US" dirty="0"/>
              <a:t>Meaning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66A82E-255B-44C9-8553-4AC9A6BBB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95650" y="3245835"/>
            <a:ext cx="4981911" cy="27739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Request Successful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Resource Created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Successfully Deleted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Resource Missing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325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2B800-BD68-46AE-98D2-D942649F1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095501"/>
            <a:ext cx="531114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4CF355-81BB-4926-821D-FCD83A84C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142" y="2419219"/>
            <a:ext cx="3832858" cy="30101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579121"/>
            <a:ext cx="7180750" cy="814654"/>
          </a:xfrm>
        </p:spPr>
        <p:txBody>
          <a:bodyPr/>
          <a:lstStyle/>
          <a:p>
            <a:r>
              <a:rPr lang="en-US" dirty="0"/>
              <a:t>Application Workflow(Live Demo)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1393775"/>
            <a:ext cx="5660243" cy="663625"/>
          </a:xfrm>
        </p:spPr>
        <p:txBody>
          <a:bodyPr/>
          <a:lstStyle/>
          <a:p>
            <a:pPr>
              <a:defRPr sz="2200"/>
            </a:pPr>
            <a:r>
              <a:rPr dirty="0">
                <a:solidFill>
                  <a:schemeClr val="bg1"/>
                </a:solidFill>
              </a:rPr>
              <a:t>CRUD operations in Postman</a:t>
            </a:r>
            <a:r>
              <a:rPr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AF7A4D-E2E7-495E-B12E-67626B97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537305"/>
            <a:ext cx="4000500" cy="21675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1391D1-3CAF-4B4D-B002-3622CA2B2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1" y="2162892"/>
            <a:ext cx="4000500" cy="22537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A2B398-205A-45E3-97BE-8376BC0C6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06" y="2162892"/>
            <a:ext cx="3784254" cy="22537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939A30-B9E4-406B-A713-C6649B968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06" y="4537305"/>
            <a:ext cx="3784254" cy="21675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Conclusion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30FF23-CBC4-4FC0-B7A6-B4737F4C21B3}"/>
              </a:ext>
            </a:extLst>
          </p:cNvPr>
          <p:cNvSpPr txBox="1">
            <a:spLocks/>
          </p:cNvSpPr>
          <p:nvPr/>
        </p:nvSpPr>
        <p:spPr>
          <a:xfrm>
            <a:off x="4907280" y="2400302"/>
            <a:ext cx="4106627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Future Improvements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Shopping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and filter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D90AC4-A7A2-4AF4-BE39-55C5DBD86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2400302"/>
            <a:ext cx="3504358" cy="3683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Learning Points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Boot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CRUD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5CA8904-D3CD-43DD-AC8F-F5F8E9AFE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7403800" cy="1837497"/>
          </a:xfrm>
        </p:spPr>
        <p:txBody>
          <a:bodyPr/>
          <a:lstStyle/>
          <a:p>
            <a:r>
              <a:rPr lang="en-US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9724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2718</TotalTime>
  <Words>297</Words>
  <Application>Microsoft Office PowerPoint</Application>
  <PresentationFormat>On-screen Show (4:3)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Inter</vt:lpstr>
      <vt:lpstr>Wingdings 3</vt:lpstr>
      <vt:lpstr>Ion Boardroom</vt:lpstr>
      <vt:lpstr>E-Commerce Product Management System</vt:lpstr>
      <vt:lpstr>Project Overview</vt:lpstr>
      <vt:lpstr>Technologies Used</vt:lpstr>
      <vt:lpstr>System Architecture</vt:lpstr>
      <vt:lpstr>Project Structure</vt:lpstr>
      <vt:lpstr>Product Entity</vt:lpstr>
      <vt:lpstr>Product Fields</vt:lpstr>
      <vt:lpstr>Repository Layer</vt:lpstr>
      <vt:lpstr>Service Layer</vt:lpstr>
      <vt:lpstr>Controller Layer</vt:lpstr>
      <vt:lpstr>API Endpoints</vt:lpstr>
      <vt:lpstr>HTTP Request Flow</vt:lpstr>
      <vt:lpstr>HTTP Status Codes</vt:lpstr>
      <vt:lpstr>Exception Handling</vt:lpstr>
      <vt:lpstr>Application Workflow(Live Demo)</vt:lpstr>
      <vt:lpstr>Challenges &amp;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E-Commerce REST API</dc:title>
  <dc:subject/>
  <dc:creator>Tasiratou Jallow</dc:creator>
  <cp:keywords/>
  <dc:description>generated using python-pptx</dc:description>
  <cp:lastModifiedBy>Tasiratou Jallow</cp:lastModifiedBy>
  <cp:revision>28</cp:revision>
  <dcterms:created xsi:type="dcterms:W3CDTF">2013-01-27T09:14:16Z</dcterms:created>
  <dcterms:modified xsi:type="dcterms:W3CDTF">2026-07-02T16:32:26Z</dcterms:modified>
  <cp:category/>
</cp:coreProperties>
</file>